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5B5BD6"/>
                </a:solidFill>
                <a:latin typeface="Calibri"/>
              </a:defRPr>
            </a:pPr>
            <a:r>
              <a:t>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4748B"/>
                </a:solidFill>
                <a:latin typeface="Calibri"/>
              </a:defRPr>
            </a:pPr>
            <a:r>
              <a:t>Productivity &amp; Focus Management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Internship Final Project 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931920"/>
            <a:ext cx="3047695" cy="36576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Calibri"/>
              </a:defRPr>
            </a:pPr>
            <a:r>
              <a:rPr dirty="0"/>
              <a:t>Student</a:t>
            </a:r>
            <a:r>
              <a:rPr lang="en-US" dirty="0"/>
              <a:t>s</a:t>
            </a:r>
            <a:r>
              <a:rPr dirty="0"/>
              <a:t>: Focus Team  |  </a:t>
            </a:r>
            <a:r>
              <a:rPr dirty="0" err="1"/>
              <a:t>Programme</a:t>
            </a:r>
            <a:r>
              <a:rPr dirty="0"/>
              <a:t>: DEPI  |  July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D4FF"/>
                </a:solidFill>
                <a:latin typeface="Calibri"/>
              </a:defRPr>
            </a:pPr>
            <a:r>
              <a:t>GitHub: https://github.com/Ahmed5Emad/Focus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286000" cy="36576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5B5BD6"/>
                </a:solidFill>
                <a:latin typeface="Calibri"/>
              </a:defRPr>
            </a:pPr>
            <a:r>
              <a:t>23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Average re-focus time lost per context switch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Tool Fragmentation</a:t>
            </a:r>
          </a:p>
          <a:p>
            <a:pPr>
              <a:spcAft>
                <a:spcPts val="300"/>
              </a:spcAft>
              <a:defRPr sz="1400" b="0">
                <a:solidFill>
                  <a:srgbClr val="64748B"/>
                </a:solidFill>
                <a:latin typeface="Calibri"/>
              </a:defRPr>
            </a:pPr>
            <a:r>
              <a:t>Task management app (Todoist / Asana)</a:t>
            </a:r>
          </a:p>
          <a:p>
            <a:pPr>
              <a:spcAft>
                <a:spcPts val="300"/>
              </a:spcAft>
              <a:defRPr sz="1400" b="0">
                <a:solidFill>
                  <a:srgbClr val="64748B"/>
                </a:solidFill>
                <a:latin typeface="Calibri"/>
              </a:defRPr>
            </a:pPr>
            <a:r>
              <a:t>Project tracker (Jira / Trello / ClickUp)</a:t>
            </a:r>
          </a:p>
          <a:p>
            <a:pPr>
              <a:spcAft>
                <a:spcPts val="300"/>
              </a:spcAft>
              <a:defRPr sz="1400" b="0">
                <a:solidFill>
                  <a:srgbClr val="64748B"/>
                </a:solidFill>
                <a:latin typeface="Calibri"/>
              </a:defRPr>
            </a:pPr>
            <a:r>
              <a:t>Note-taking &amp; docs (Notion / OneNote)</a:t>
            </a:r>
          </a:p>
          <a:p>
            <a:pPr>
              <a:spcAft>
                <a:spcPts val="300"/>
              </a:spcAft>
              <a:defRPr sz="1400" b="0">
                <a:solidFill>
                  <a:srgbClr val="64748B"/>
                </a:solidFill>
                <a:latin typeface="Calibri"/>
              </a:defRPr>
            </a:pPr>
            <a:r>
              <a:t>Team chat (Slack / Discord / Teams)</a:t>
            </a:r>
          </a:p>
          <a:p>
            <a:pPr>
              <a:spcAft>
                <a:spcPts val="300"/>
              </a:spcAft>
              <a:defRPr sz="1400" b="0">
                <a:solidFill>
                  <a:srgbClr val="64748B"/>
                </a:solidFill>
                <a:latin typeface="Calibri"/>
              </a:defRPr>
            </a:pPr>
            <a:r>
              <a:t>Focus / Pomodoro timer (Forest / Focusmate)</a:t>
            </a:r>
          </a:p>
          <a:p>
            <a:pPr>
              <a:spcAft>
                <a:spcPts val="300"/>
              </a:spcAft>
              <a:defRPr sz="1400" b="0">
                <a:solidFill>
                  <a:srgbClr val="64748B"/>
                </a:solidFill>
                <a:latin typeface="Calibri"/>
              </a:defRPr>
            </a:pPr>
            <a:r>
              <a:t>Each switch costs 23 min of lost focus</a:t>
            </a:r>
          </a:p>
          <a:p>
            <a:pPr>
              <a:spcAft>
                <a:spcPts val="300"/>
              </a:spcAft>
              <a:defRPr sz="1400" b="0">
                <a:solidFill>
                  <a:srgbClr val="64748B"/>
                </a:solidFill>
                <a:latin typeface="Calibri"/>
              </a:defRPr>
            </a:pPr>
            <a:r>
              <a:t>Data scattered across 5+ platforms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63040"/>
            <a:ext cx="5029200" cy="4572000"/>
          </a:xfrm>
          <a:prstGeom prst="roundRect">
            <a:avLst/>
          </a:prstGeom>
          <a:solidFill>
            <a:srgbClr val="15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16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Current Workflow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64748B"/>
                </a:solidFill>
                <a:latin typeface="Calibri"/>
              </a:defRPr>
            </a:pPr>
            <a:r>
              <a:t>✖  Todoist — Tasks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64748B"/>
                </a:solidFill>
                <a:latin typeface="Calibri"/>
              </a:defRPr>
            </a:pPr>
            <a:r>
              <a:t>✖  Notion — Docs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64748B"/>
                </a:solidFill>
                <a:latin typeface="Calibri"/>
              </a:defRPr>
            </a:pPr>
            <a:r>
              <a:t>✖  Slack — Chat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64748B"/>
                </a:solidFill>
                <a:latin typeface="Calibri"/>
              </a:defRPr>
            </a:pPr>
            <a:r>
              <a:t>✖  Forest — Timer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64748B"/>
                </a:solidFill>
                <a:latin typeface="Calibri"/>
              </a:defRPr>
            </a:pPr>
            <a:r>
              <a:t>✖  Google Calendar — Schedule</a:t>
            </a:r>
          </a:p>
          <a:p>
            <a:pPr algn="l">
              <a:spcAft>
                <a:spcPts val="800"/>
              </a:spcAft>
              <a:defRPr sz="800" b="0">
                <a:solidFill>
                  <a:srgbClr val="1E293B"/>
                </a:solidFill>
                <a:latin typeface="Calibri"/>
              </a:defRPr>
            </a:pPr>
            <a:endParaRPr/>
          </a:p>
          <a:p>
            <a:pPr algn="l">
              <a:spcAft>
                <a:spcPts val="400"/>
              </a:spcAft>
              <a:defRPr sz="1500" b="1">
                <a:solidFill>
                  <a:srgbClr val="00D4FF"/>
                </a:solidFill>
                <a:latin typeface="Calibri"/>
              </a:defRPr>
            </a:pPr>
            <a:r>
              <a:t>→ 5 separate tools, 5 accounts, 5 contexts</a:t>
            </a:r>
          </a:p>
          <a:p>
            <a:pPr algn="l">
              <a:spcAft>
                <a:spcPts val="400"/>
              </a:spcAft>
              <a:defRPr sz="1500" b="1">
                <a:solidFill>
                  <a:srgbClr val="00D4FF"/>
                </a:solidFill>
                <a:latin typeface="Calibri"/>
              </a:defRPr>
            </a:pPr>
            <a:r>
              <a:t>→ Fragmented data, no unified 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Our Solution: Focus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286000" cy="36576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748B"/>
                </a:solidFill>
                <a:latin typeface="Calibri"/>
              </a:defRPr>
            </a:pPr>
            <a:r>
              <a:t>One unified workspace. Every tool you need. Real-time by default.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26060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60120" y="2286000"/>
            <a:ext cx="457200" cy="457200"/>
          </a:xfrm>
          <a:prstGeom prst="ellipse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24028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Task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560320"/>
            <a:ext cx="1600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List, Kanban &amp; Calendar views</a:t>
            </a:r>
            <a:br/>
            <a:r>
              <a:t>Filter, search, priority &amp; subtasks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2103120"/>
            <a:ext cx="26060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749040" y="228600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24028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Projects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560320"/>
            <a:ext cx="1600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Group tasks, track status</a:t>
            </a:r>
            <a:br/>
            <a:r>
              <a:t>Active / Completed / On-Hold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103120"/>
            <a:ext cx="26060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537960" y="228600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24028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Goals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2560320"/>
            <a:ext cx="1600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Long-term objectives</a:t>
            </a:r>
            <a:br/>
            <a:r>
              <a:t>Auto-progress from linked tasks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2103120"/>
            <a:ext cx="26060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326880" y="2286000"/>
            <a:ext cx="457200" cy="45720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224028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Documents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2560320"/>
            <a:ext cx="1600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TipTap rich-text editor</a:t>
            </a:r>
            <a:br/>
            <a:r>
              <a:t>Real-time Yjs CRDT collaboration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389120"/>
            <a:ext cx="26060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60120" y="4572000"/>
            <a:ext cx="457200" cy="45720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52628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Chat &amp; DMs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846320"/>
            <a:ext cx="1600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Workspace channel &amp; 1:1 DMs</a:t>
            </a:r>
            <a:br/>
            <a:r>
              <a:t>File upload + @mentions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20440" y="4389120"/>
            <a:ext cx="26060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3749040" y="4572000"/>
            <a:ext cx="457200" cy="45720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452628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Focus Timer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4846320"/>
            <a:ext cx="1600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Pomodoro &amp; Flow sessions</a:t>
            </a:r>
            <a:br/>
            <a:r>
              <a:t>Distraction logging + flow score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4389120"/>
            <a:ext cx="26060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537960" y="4572000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452628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Analytics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846320"/>
            <a:ext cx="1600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Dashboard stats + activity feed</a:t>
            </a:r>
            <a:br/>
            <a:r>
              <a:t>Weekly trends &amp; productivity charts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98280" y="4389120"/>
            <a:ext cx="26060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9326880" y="4572000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0" y="452628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Search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0" y="4846320"/>
            <a:ext cx="1600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Cmd+K global command palette</a:t>
            </a:r>
            <a:br/>
            <a:r>
              <a:t>Instant cross-entity 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286000" cy="36576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303520" cy="4846320"/>
          </a:xfrm>
          <a:prstGeom prst="roundRect">
            <a:avLst/>
          </a:prstGeom>
          <a:solidFill>
            <a:srgbClr val="15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1400"/>
              </a:spcAft>
              <a:defRPr sz="2000" b="1">
                <a:solidFill>
                  <a:srgbClr val="5B5BD6"/>
                </a:solidFill>
                <a:latin typeface="Calibri"/>
              </a:defRPr>
            </a:pPr>
            <a:r>
              <a:t>Frontend</a:t>
            </a:r>
          </a:p>
          <a:p>
            <a:pPr algn="l">
              <a:spcAft>
                <a:spcPts val="1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▸  React 19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      UI framework with concurrent rendering</a:t>
            </a:r>
          </a:p>
          <a:p>
            <a:pPr algn="l">
              <a:spcAft>
                <a:spcPts val="1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▸  TypeScript 5.9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      Strict mode, full type safety</a:t>
            </a:r>
          </a:p>
          <a:p>
            <a:pPr algn="l">
              <a:spcAft>
                <a:spcPts val="1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▸  Vite 7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      ESM-native build, sub-second HMR</a:t>
            </a:r>
          </a:p>
          <a:p>
            <a:pPr algn="l">
              <a:spcAft>
                <a:spcPts val="1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▸  Tailwind CSS v4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      Utility-first, CSS variables, dark mode</a:t>
            </a:r>
          </a:p>
          <a:p>
            <a:pPr algn="l">
              <a:spcAft>
                <a:spcPts val="1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▸  Radix UI + shadcn/ui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      Accessible primitives, CVA variants</a:t>
            </a:r>
          </a:p>
          <a:p>
            <a:pPr algn="l">
              <a:spcAft>
                <a:spcPts val="1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▸  Lucide React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      Tree-shakable SVG icons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463040"/>
            <a:ext cx="5303520" cy="4846320"/>
          </a:xfrm>
          <a:prstGeom prst="roundRect">
            <a:avLst/>
          </a:prstGeom>
          <a:solidFill>
            <a:srgbClr val="15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1400"/>
              </a:spcAft>
              <a:defRPr sz="2000" b="1">
                <a:solidFill>
                  <a:srgbClr val="5B5BD6"/>
                </a:solidFill>
                <a:latin typeface="Calibri"/>
              </a:defRPr>
            </a:pPr>
            <a:r>
              <a:t>Backend &amp; Infrastructure</a:t>
            </a:r>
          </a:p>
          <a:p>
            <a:pPr algn="l">
              <a:spcAft>
                <a:spcPts val="1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▸  Supabase (BaaS)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      PostgreSQL 17, Auth, Realtime, Storage</a:t>
            </a:r>
          </a:p>
          <a:p>
            <a:pPr algn="l">
              <a:spcAft>
                <a:spcPts val="1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▸  PostgreSQL RLS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      Row-Level Security on every table</a:t>
            </a:r>
          </a:p>
          <a:p>
            <a:pPr algn="l">
              <a:spcAft>
                <a:spcPts val="1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▸  Yjs CRDT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      Conflict-free real-time document editing</a:t>
            </a:r>
          </a:p>
          <a:p>
            <a:pPr algn="l">
              <a:spcAft>
                <a:spcPts val="1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▸  Vercel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      Global CDN, zero-config SPA deploy</a:t>
            </a:r>
          </a:p>
          <a:p>
            <a:pPr algn="l">
              <a:spcAft>
                <a:spcPts val="1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▸  Sentry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      Error tracking + performance monitoring</a:t>
            </a:r>
          </a:p>
          <a:p>
            <a:pPr algn="l">
              <a:spcAft>
                <a:spcPts val="1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▸  GitHub Actions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      CI: lint → tsc → test → build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286000" cy="36576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828800" y="1463040"/>
            <a:ext cx="8503920" cy="822960"/>
          </a:xfrm>
          <a:prstGeom prst="round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Browser</a:t>
            </a:r>
          </a:p>
          <a:p>
            <a:pPr algn="ctr">
              <a:spcAft>
                <a:spcPts val="6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React 19 SPA (Vite)</a:t>
            </a:r>
            <a:br/>
            <a:r>
              <a:t>HashRouter + Sentry SDK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46888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↑ HTTPS / WebSocket 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3474720"/>
            <a:ext cx="8503920" cy="8229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Supabase Cloud</a:t>
            </a:r>
          </a:p>
          <a:p>
            <a:pPr algn="ctr">
              <a:spcAft>
                <a:spcPts val="6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PostgreSQL 17 | GoTrue Auth</a:t>
            </a:r>
            <a:br/>
            <a:r>
              <a:t>Realtime | Storage | Edge Functions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48056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↑ 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5486400"/>
            <a:ext cx="8503920" cy="82296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Vercel CDN</a:t>
            </a:r>
          </a:p>
          <a:p>
            <a:pPr algn="ctr">
              <a:spcAft>
                <a:spcPts val="6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Edge-deployed static assets</a:t>
            </a:r>
            <a:br/>
            <a:r>
              <a:t>Global caching + Speed Insights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Database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286000" cy="36576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5B5BD6"/>
                </a:solidFill>
                <a:latin typeface="Calibri"/>
              </a:defRPr>
            </a:pPr>
            <a:r>
              <a:t>20+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Tables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371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5B5BD6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828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Migrations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371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5B5BD6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1828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Custom RPCs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1371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5B5BD6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1828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Edge Function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1371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5B5BD6"/>
                </a:solidFill>
                <a:latin typeface="Calibri"/>
              </a:defRPr>
            </a:pPr>
            <a:r>
              <a:t>Full RLS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1828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Row-Level 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4688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Key Tables</a:t>
            </a:r>
          </a:p>
          <a:p>
            <a:pPr>
              <a:spcAft>
                <a:spcPts val="100"/>
              </a:spcAft>
              <a:defRPr sz="1300" b="1">
                <a:solidFill>
                  <a:srgbClr val="00D4FF"/>
                </a:solidFill>
                <a:latin typeface="Calibri"/>
              </a:defRPr>
            </a:pPr>
            <a:r>
              <a:t>▸  workspaces / workspace_members</a:t>
            </a:r>
          </a:p>
          <a:p>
            <a:pPr>
              <a:spcAft>
                <a:spcPts val="6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      Multi-tenant isolation; roles: owner, admin, member, sub-admin</a:t>
            </a:r>
          </a:p>
          <a:p>
            <a:pPr>
              <a:spcAft>
                <a:spcPts val="100"/>
              </a:spcAft>
              <a:defRPr sz="1300" b="1">
                <a:solidFill>
                  <a:srgbClr val="00D4FF"/>
                </a:solidFill>
                <a:latin typeface="Calibri"/>
              </a:defRPr>
            </a:pPr>
            <a:r>
              <a:t>▸  tasks</a:t>
            </a:r>
          </a:p>
          <a:p>
            <a:pPr>
              <a:spcAft>
                <a:spcPts val="6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      Full CRUD with status, priority, due date, subtasks (self-ref), project/goal links, recurrence rules</a:t>
            </a:r>
          </a:p>
          <a:p>
            <a:pPr>
              <a:spcAft>
                <a:spcPts val="100"/>
              </a:spcAft>
              <a:defRPr sz="1300" b="1">
                <a:solidFill>
                  <a:srgbClr val="00D4FF"/>
                </a:solidFill>
                <a:latin typeface="Calibri"/>
              </a:defRPr>
            </a:pPr>
            <a:r>
              <a:t>▸  projects / goals</a:t>
            </a:r>
          </a:p>
          <a:p>
            <a:pPr>
              <a:spcAft>
                <a:spcPts val="6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      Hierarchical grouping with progress tracking and task linking</a:t>
            </a:r>
          </a:p>
          <a:p>
            <a:pPr>
              <a:spcAft>
                <a:spcPts val="100"/>
              </a:spcAft>
              <a:defRPr sz="1300" b="1">
                <a:solidFill>
                  <a:srgbClr val="00D4FF"/>
                </a:solidFill>
                <a:latin typeface="Calibri"/>
              </a:defRPr>
            </a:pPr>
            <a:r>
              <a:t>▸  documents</a:t>
            </a:r>
          </a:p>
          <a:p>
            <a:pPr>
              <a:spcAft>
                <a:spcPts val="6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      TipTap JSON content + Yjs CRDT snapshot (bytea) for real-time collaboration</a:t>
            </a:r>
          </a:p>
          <a:p>
            <a:pPr>
              <a:spcAft>
                <a:spcPts val="100"/>
              </a:spcAft>
              <a:defRPr sz="1300" b="1">
                <a:solidFill>
                  <a:srgbClr val="00D4FF"/>
                </a:solidFill>
                <a:latin typeface="Calibri"/>
              </a:defRPr>
            </a:pPr>
            <a:r>
              <a:t>▸  focus_sessions / distraction_logs</a:t>
            </a:r>
          </a:p>
          <a:p>
            <a:pPr>
              <a:spcAft>
                <a:spcPts val="6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      Timer sessions with auto-calculated flow_score, distraction tracking</a:t>
            </a:r>
          </a:p>
          <a:p>
            <a:pPr>
              <a:spcAft>
                <a:spcPts val="100"/>
              </a:spcAft>
              <a:defRPr sz="1300" b="1">
                <a:solidFill>
                  <a:srgbClr val="00D4FF"/>
                </a:solidFill>
                <a:latin typeface="Calibri"/>
              </a:defRPr>
            </a:pPr>
            <a:r>
              <a:t>▸  chat_messages / direct_messages</a:t>
            </a:r>
          </a:p>
          <a:p>
            <a:pPr>
              <a:spcAft>
                <a:spcPts val="6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      Workspace channel + private DMs with file attachments and status tracking</a:t>
            </a:r>
          </a:p>
          <a:p>
            <a:pPr>
              <a:spcAft>
                <a:spcPts val="100"/>
              </a:spcAft>
              <a:defRPr sz="1300" b="1">
                <a:solidFill>
                  <a:srgbClr val="00D4FF"/>
                </a:solidFill>
                <a:latin typeface="Calibri"/>
              </a:defRPr>
            </a:pPr>
            <a:r>
              <a:t>▸  notifications / activity_logs</a:t>
            </a:r>
          </a:p>
          <a:p>
            <a:pPr>
              <a:spcAft>
                <a:spcPts val="6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      Real-time push + audit trail (auto-inserted by DB triggers)</a:t>
            </a:r>
          </a:p>
          <a:p>
            <a:pPr>
              <a:spcAft>
                <a:spcPts val="100"/>
              </a:spcAft>
              <a:defRPr sz="1300" b="1">
                <a:solidFill>
                  <a:srgbClr val="00D4FF"/>
                </a:solidFill>
                <a:latin typeface="Calibri"/>
              </a:defRPr>
            </a:pPr>
            <a:r>
              <a:t>▸  workflow_statuses / custom_fields / task_templates</a:t>
            </a:r>
          </a:p>
          <a:p>
            <a:pPr>
              <a:spcAft>
                <a:spcPts val="6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      Customisable workflow with user-defined fields and templates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Feature Deep Dive: Task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286000" cy="36576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2286000"/>
          </a:xfrm>
          <a:prstGeom prst="roundRect">
            <a:avLst/>
          </a:prstGeom>
          <a:solidFill>
            <a:srgbClr val="15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1000"/>
              </a:spcAft>
              <a:defRPr sz="1600" b="1">
                <a:solidFill>
                  <a:srgbClr val="5B5BD6"/>
                </a:solidFill>
                <a:latin typeface="Calibri"/>
              </a:defRPr>
            </a:pPr>
            <a:r>
              <a:t>List View ≡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Sortable rows with priority badges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Status, due date, assignee columns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Filter chips: status / priority /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59" y="1463040"/>
            <a:ext cx="3383280" cy="2286000"/>
          </a:xfrm>
          <a:prstGeom prst="roundRect">
            <a:avLst/>
          </a:prstGeom>
          <a:solidFill>
            <a:srgbClr val="15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1000"/>
              </a:spcAft>
              <a:defRPr sz="1600" b="1">
                <a:solidFill>
                  <a:srgbClr val="10B981"/>
                </a:solidFill>
                <a:latin typeface="Calibri"/>
              </a:defRPr>
            </a:pPr>
            <a:r>
              <a:t>Kanban Board ▦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Three columns: Todo / In Progress / Done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Drag-and-drop cards between columns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Visual workflow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598" y="1463040"/>
            <a:ext cx="3383280" cy="2286000"/>
          </a:xfrm>
          <a:prstGeom prst="roundRect">
            <a:avLst/>
          </a:prstGeom>
          <a:solidFill>
            <a:srgbClr val="15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1000"/>
              </a:spcAft>
              <a:defRPr sz="1600" b="1">
                <a:solidFill>
                  <a:srgbClr val="F59E0B"/>
                </a:solidFill>
                <a:latin typeface="Calibri"/>
              </a:defRPr>
            </a:pPr>
            <a:r>
              <a:t>Calendar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Monthly calendar (react-day-picker)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Task dots on due dates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Click to view/edit from calendar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Additional Capabilities</a:t>
            </a:r>
          </a:p>
          <a:p>
            <a:pPr>
              <a:spcAft>
                <a:spcPts val="3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Subtasks (parent_task_id self-referencing) and task dependencies (task_dependencies table)</a:t>
            </a:r>
          </a:p>
          <a:p>
            <a:pPr>
              <a:spcAft>
                <a:spcPts val="3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Recurring tasks with RRULE expressions (weekly, monthly, custom)</a:t>
            </a:r>
          </a:p>
          <a:p>
            <a:pPr>
              <a:spcAft>
                <a:spcPts val="3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Task templates for reusable workflows</a:t>
            </a:r>
          </a:p>
          <a:p>
            <a:pPr>
              <a:spcAft>
                <a:spcPts val="3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Custom workflow statuses and custom fields (text / number / select / date)</a:t>
            </a:r>
          </a:p>
          <a:p>
            <a:pPr>
              <a:spcAft>
                <a:spcPts val="3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Real-time updates via Supabase Realtime postgres_changes broadcast</a:t>
            </a:r>
          </a:p>
          <a:p>
            <a:pPr>
              <a:spcAft>
                <a:spcPts val="3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Activity log auto-inserted by DB trigger on every task INSERT/UPDATE/DELETE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Feature Deep Dive: Real-Time Collaboration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286000" cy="36576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303520" cy="2377440"/>
          </a:xfrm>
          <a:prstGeom prst="roundRect">
            <a:avLst/>
          </a:prstGeom>
          <a:solidFill>
            <a:srgbClr val="15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1000"/>
              </a:spcAft>
              <a:defRPr sz="1800" b="1">
                <a:solidFill>
                  <a:srgbClr val="5B5BD6"/>
                </a:solidFill>
                <a:latin typeface="Calibri"/>
              </a:defRPr>
            </a:pPr>
            <a:r>
              <a:t>Collaborative Documents (TipTap + Yjs)</a:t>
            </a:r>
          </a:p>
          <a:p>
            <a:pPr>
              <a:spcAft>
                <a:spcPts val="2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TipTap rich-text editor with 15+ extensions (bold, italic, headings, code blocks, tables, images)</a:t>
            </a:r>
          </a:p>
          <a:p>
            <a:pPr>
              <a:spcAft>
                <a:spcPts val="2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Yjs CRDT for conflict-free real-time merging - no server coordination needed</a:t>
            </a:r>
          </a:p>
          <a:p>
            <a:pPr>
              <a:spcAft>
                <a:spcPts val="2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Cursor presence awareness - see collaborators' cursor positions with name labels</a:t>
            </a:r>
          </a:p>
          <a:p>
            <a:pPr>
              <a:spcAft>
                <a:spcPts val="2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Supabase Realtime broadcast channel for Yjs updates (&lt; 200 ms round-trip)</a:t>
            </a:r>
          </a:p>
          <a:p>
            <a:pPr>
              <a:spcAft>
                <a:spcPts val="2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Auto-save every 3 seconds: editor JSON + Yjs snapshot persisted to Supabase</a:t>
            </a:r>
          </a:p>
          <a:p>
            <a:pPr>
              <a:spcAft>
                <a:spcPts val="2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Export to Markdown (.md), PDF, or HTML</a:t>
            </a:r>
          </a:p>
          <a:p>
            <a:pPr>
              <a:spcAft>
                <a:spcPts val="2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Document comments with text-range selection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463040"/>
            <a:ext cx="5029200" cy="2377440"/>
          </a:xfrm>
          <a:prstGeom prst="roundRect">
            <a:avLst/>
          </a:prstGeom>
          <a:solidFill>
            <a:srgbClr val="15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1000"/>
              </a:spcAft>
              <a:defRPr sz="1800" b="1">
                <a:solidFill>
                  <a:srgbClr val="8B5CF6"/>
                </a:solidFill>
                <a:latin typeface="Calibri"/>
              </a:defRPr>
            </a:pPr>
            <a:r>
              <a:t>Chat &amp; Direct Messages</a:t>
            </a:r>
          </a:p>
          <a:p>
            <a:pPr>
              <a:spcAft>
                <a:spcPts val="2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Workspace-wide chat channel with Supabase Realtime presence</a:t>
            </a:r>
          </a:p>
          <a:p>
            <a:pPr>
              <a:spcAft>
                <a:spcPts val="2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1:1 Direct Messages - private, not visible to other members</a:t>
            </a:r>
          </a:p>
          <a:p>
            <a:pPr>
              <a:spcAft>
                <a:spcPts val="2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File upload to Supabase Storage with progress bar (0-100%)</a:t>
            </a:r>
          </a:p>
          <a:p>
            <a:pPr>
              <a:spcAft>
                <a:spcPts val="2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@mention autocomplete - triggers in-app notification via Edge Function</a:t>
            </a:r>
          </a:p>
          <a:p>
            <a:pPr>
              <a:spcAft>
                <a:spcPts val="2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Message status tracking: Sent → Delivered → Read</a:t>
            </a:r>
          </a:p>
          <a:p>
            <a:pPr>
              <a:spcAft>
                <a:spcPts val="2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Typing indicators via Realtime presence channel</a:t>
            </a:r>
          </a:p>
          <a:p>
            <a:pPr>
              <a:spcAft>
                <a:spcPts val="2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Shift+Enter for multi-line messages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5156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Presence &amp; Notifications</a:t>
            </a:r>
          </a:p>
          <a:p>
            <a:pPr>
              <a:spcAft>
                <a:spcPts val="3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PagePresence component shows online users per workspace via Realtime presence channel</a:t>
            </a:r>
          </a:p>
          <a:p>
            <a:pPr>
              <a:spcAft>
                <a:spcPts val="3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Real-time in-app notifications for task assignments, @mentions, and status changes</a:t>
            </a:r>
          </a:p>
          <a:p>
            <a:pPr>
              <a:spcAft>
                <a:spcPts val="3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Notification bell badge with unread count, mark-as-read, and popover list</a:t>
            </a:r>
          </a:p>
          <a:p>
            <a:pPr>
              <a:spcAft>
                <a:spcPts val="3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Silent re-fetch on Realtime reconnect - no loading skeleton flash (BUG-001 fix)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Feature Deep Dive: Focus Timer &amp; Analytics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286000" cy="36576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303520" cy="2194560"/>
          </a:xfrm>
          <a:prstGeom prst="roundRect">
            <a:avLst/>
          </a:prstGeom>
          <a:solidFill>
            <a:srgbClr val="15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1000"/>
              </a:spcAft>
              <a:defRPr sz="1800" b="1">
                <a:solidFill>
                  <a:srgbClr val="06B6D4"/>
                </a:solidFill>
                <a:latin typeface="Calibri"/>
              </a:defRPr>
            </a:pPr>
            <a:r>
              <a:t>Focus Timer</a:t>
            </a:r>
          </a:p>
          <a:p>
            <a:pPr>
              <a:spcAft>
                <a:spcPts val="2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Two session types: Pomodoro (25 min work / 5 min break) or Flow (open-ended)</a:t>
            </a:r>
          </a:p>
          <a:p>
            <a:pPr>
              <a:spcAft>
                <a:spcPts val="2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SVG countdown ring with MM:SS display</a:t>
            </a:r>
          </a:p>
          <a:p>
            <a:pPr>
              <a:spcAft>
                <a:spcPts val="2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Distraction logging - enter reason, saved to distraction_logs table</a:t>
            </a:r>
          </a:p>
          <a:p>
            <a:pPr>
              <a:spcAft>
                <a:spcPts val="2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Flow score calculation: (focusTime / totalTime) x 100, capped at 999%</a:t>
            </a:r>
          </a:p>
          <a:p>
            <a:pPr>
              <a:spcAft>
                <a:spcPts val="2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Session history table with editable entries (SessionEditDialog)</a:t>
            </a:r>
          </a:p>
          <a:p>
            <a:pPr>
              <a:spcAft>
                <a:spcPts val="2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Timer state preserved in FocusContext - survives navigation</a:t>
            </a:r>
          </a:p>
          <a:p>
            <a:pPr>
              <a:spcAft>
                <a:spcPts val="2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Session summary card showing flow score after completion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463040"/>
            <a:ext cx="5029200" cy="2194560"/>
          </a:xfrm>
          <a:prstGeom prst="roundRect">
            <a:avLst/>
          </a:prstGeom>
          <a:solidFill>
            <a:srgbClr val="15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1000"/>
              </a:spcAft>
              <a:defRPr sz="1800" b="1">
                <a:solidFill>
                  <a:srgbClr val="F97316"/>
                </a:solidFill>
                <a:latin typeface="Calibri"/>
              </a:defRPr>
            </a:pPr>
            <a:r>
              <a:t>Dashboard Analytics</a:t>
            </a:r>
          </a:p>
          <a:p>
            <a:pPr>
              <a:spcAft>
                <a:spcPts val="2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get_dashboard_stats RPC returns: flow_score, deep_work_minutes, tasks_completed</a:t>
            </a:r>
          </a:p>
          <a:p>
            <a:pPr>
              <a:spcAft>
                <a:spcPts val="2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Weekly trend bar chart (% change week-over-week, 999% cap applied)</a:t>
            </a:r>
          </a:p>
          <a:p>
            <a:pPr>
              <a:spcAft>
                <a:spcPts val="2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Real-time activity feed (latest 50 actions via activity_logs)</a:t>
            </a:r>
          </a:p>
          <a:p>
            <a:pPr>
              <a:spcAft>
                <a:spcPts val="2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Stats cards: Tasks Completed, Deep Work Time, Flow Score, % Change</a:t>
            </a:r>
          </a:p>
          <a:p>
            <a:pPr>
              <a:spcAft>
                <a:spcPts val="2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Activity items show entity type, user, action, and timestamp</a:t>
            </a:r>
          </a:p>
          <a:p>
            <a:pPr>
              <a:spcAft>
                <a:spcPts val="2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Silent re-fetch on Realtime reconnect - seamless 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Combined Value: Measure What Matters</a:t>
            </a:r>
          </a:p>
          <a:p>
            <a:pPr>
              <a:spcAft>
                <a:spcPts val="3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Tasks + Focus Timer + Analytics creates a closed feedback loop</a:t>
            </a:r>
          </a:p>
          <a:p>
            <a:pPr>
              <a:spcAft>
                <a:spcPts val="3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Set goals → Plan tasks → Execute with focus timer → Measure results → Adjust</a:t>
            </a:r>
          </a:p>
          <a:p>
            <a:pPr>
              <a:spcAft>
                <a:spcPts val="3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Distraction logging helps identify productivity blockers over time</a:t>
            </a:r>
          </a:p>
          <a:p>
            <a:pPr>
              <a:spcAft>
                <a:spcPts val="3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Flow score provides a tangible metric for deep work quality</a:t>
            </a:r>
          </a:p>
          <a:p>
            <a:pPr>
              <a:spcAft>
                <a:spcPts val="3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All data in one place - no need to cross-reference multiple tools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UI/UX &amp; Design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286000" cy="36576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606040" cy="2011680"/>
          </a:xfrm>
          <a:prstGeom prst="roundRect">
            <a:avLst/>
          </a:prstGeom>
          <a:solidFill>
            <a:srgbClr val="15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800"/>
              </a:spcAft>
              <a:defRPr sz="1600" b="1">
                <a:solidFill>
                  <a:srgbClr val="5B5BD6"/>
                </a:solidFill>
                <a:latin typeface="Calibri"/>
              </a:defRPr>
            </a:pPr>
            <a:r>
              <a:t>Colours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Dark theme: hsl(222 84% 5%) bg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Primary: hsl(240 100% 60%) purple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Accent: hsl(192 100% 52%) cyan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Full light/dark mode toggle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11880" y="1463040"/>
            <a:ext cx="2606040" cy="2011680"/>
          </a:xfrm>
          <a:prstGeom prst="roundRect">
            <a:avLst/>
          </a:prstGeom>
          <a:solidFill>
            <a:srgbClr val="15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800"/>
              </a:spcAft>
              <a:defRPr sz="1600" b="1">
                <a:solidFill>
                  <a:srgbClr val="5B5BD6"/>
                </a:solidFill>
                <a:latin typeface="Calibri"/>
              </a:defRPr>
            </a:pPr>
            <a:r>
              <a:t>Typography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Body: Inter (Google Fonts)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Headings: Outfit (Google Fonts)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Consistent hierarchy H1-H3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Monospace for code blocks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463040"/>
            <a:ext cx="2606040" cy="2011680"/>
          </a:xfrm>
          <a:prstGeom prst="roundRect">
            <a:avLst/>
          </a:prstGeom>
          <a:solidFill>
            <a:srgbClr val="15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800"/>
              </a:spcAft>
              <a:defRPr sz="1600" b="1">
                <a:solidFill>
                  <a:srgbClr val="5B5BD6"/>
                </a:solidFill>
                <a:latin typeface="Calibri"/>
              </a:defRPr>
            </a:pPr>
            <a:r>
              <a:t>Components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shadcn/ui Radix primitives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CVA variant system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Consistent 0.75rem radius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Card shadows: 0 4px 24px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72600" y="1463040"/>
            <a:ext cx="2606040" cy="2011680"/>
          </a:xfrm>
          <a:prstGeom prst="roundRect">
            <a:avLst/>
          </a:prstGeom>
          <a:solidFill>
            <a:srgbClr val="15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800"/>
              </a:spcAft>
              <a:defRPr sz="1600" b="1">
                <a:solidFill>
                  <a:srgbClr val="5B5BD6"/>
                </a:solidFill>
                <a:latin typeface="Calibri"/>
              </a:defRPr>
            </a:pPr>
            <a:r>
              <a:t>Responsive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Desktop-first layout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Mobile: Sheet sidebar drawer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Auto-closes on route change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Overlay backdrop on mobile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49039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UX Improvements Implemented</a:t>
            </a:r>
          </a:p>
          <a:p>
            <a:pPr>
              <a:spcAft>
                <a:spcPts val="3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Onboarding wizard (4 steps) - new users productive in &lt; 2 minutes</a:t>
            </a:r>
          </a:p>
          <a:p>
            <a:pPr>
              <a:spcAft>
                <a:spcPts val="3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Command palette (Cmd+K) - instant cross-entity search and navigation</a:t>
            </a:r>
          </a:p>
          <a:p>
            <a:pPr>
              <a:spcAft>
                <a:spcPts val="3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Keyboard shortcuts modal (press ?) - discoverable shortcuts</a:t>
            </a:r>
          </a:p>
          <a:p>
            <a:pPr>
              <a:spcAft>
                <a:spcPts val="3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Skeleton loading states - perceived performance improvement</a:t>
            </a:r>
          </a:p>
          <a:p>
            <a:pPr>
              <a:spcAft>
                <a:spcPts val="3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Toast notifications (Sonner) - non-intrusive feedback for all actions</a:t>
            </a:r>
          </a:p>
          <a:p>
            <a:pPr>
              <a:spcAft>
                <a:spcPts val="3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Empty states with call-to-action - no dead pages</a:t>
            </a:r>
          </a:p>
          <a:p>
            <a:pPr>
              <a:spcAft>
                <a:spcPts val="3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Responsive sidebar (Sheet drawer on mobile) - works on all screen sizes</a:t>
            </a:r>
          </a:p>
          <a:p>
            <a:pPr>
              <a:spcAft>
                <a:spcPts val="3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Dark/Light mode toggle with data-theme on &lt;body&gt; (BUG-005 fix)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Security &amp; Error Handling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286000" cy="36576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303520" cy="2743200"/>
          </a:xfrm>
          <a:prstGeom prst="roundRect">
            <a:avLst/>
          </a:prstGeom>
          <a:solidFill>
            <a:srgbClr val="15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1000"/>
              </a:spcAft>
              <a:defRPr sz="1800" b="1">
                <a:solidFill>
                  <a:srgbClr val="10B981"/>
                </a:solidFill>
                <a:latin typeface="Calibri"/>
              </a:defRPr>
            </a:pPr>
            <a:r>
              <a:t>Security Controls</a:t>
            </a:r>
          </a:p>
          <a:p>
            <a:pPr>
              <a:spcAft>
                <a:spcPts val="3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✅ RLS on every table - auth.uid() validated server-side by PostgreSQL</a:t>
            </a:r>
          </a:p>
          <a:p>
            <a:pPr>
              <a:spcAft>
                <a:spcPts val="3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✅ PKCE OAuth flow - code_verifier stored in SameSite=Lax cookie prevents token interception</a:t>
            </a:r>
          </a:p>
          <a:p>
            <a:pPr>
              <a:spcAft>
                <a:spcPts val="3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✅ XSS protection - React JSX escaping + TipTap ProseMirror schema sanitisation</a:t>
            </a:r>
          </a:p>
          <a:p>
            <a:pPr>
              <a:spcAft>
                <a:spcPts val="3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✅ DB-level rate limiting (20260713_rate_limit_rpcs.sql migration)</a:t>
            </a:r>
          </a:p>
          <a:p>
            <a:pPr>
              <a:spcAft>
                <a:spcPts val="3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✅ No service role key in frontend - only publishable anon key exposed</a:t>
            </a:r>
          </a:p>
          <a:p>
            <a:pPr>
              <a:spcAft>
                <a:spcPts val="3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✅ Dependabot security alerts + bun audit before production deploy</a:t>
            </a:r>
          </a:p>
          <a:p>
            <a:pPr>
              <a:spcAft>
                <a:spcPts val="3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✅ Supabase Auth built-in CSRF protection on all state-changing operations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463040"/>
            <a:ext cx="5029200" cy="2743200"/>
          </a:xfrm>
          <a:prstGeom prst="roundRect">
            <a:avLst/>
          </a:prstGeom>
          <a:solidFill>
            <a:srgbClr val="15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1000"/>
              </a:spcAft>
              <a:defRPr sz="1800" b="1">
                <a:solidFill>
                  <a:srgbClr val="F59E0B"/>
                </a:solidFill>
                <a:latin typeface="Calibri"/>
              </a:defRPr>
            </a:pPr>
            <a:r>
              <a:t>Error Handling Strategy</a:t>
            </a:r>
          </a:p>
          <a:p>
            <a:pPr>
              <a:spcAft>
                <a:spcPts val="3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✅ Sentry ErrorBoundary wraps entire app - captures all unhandled React errors</a:t>
            </a:r>
          </a:p>
          <a:p>
            <a:pPr>
              <a:spcAft>
                <a:spcPts val="3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✅ Sentry.setUser() for user identity context in error reports</a:t>
            </a:r>
          </a:p>
          <a:p>
            <a:pPr>
              <a:spcAft>
                <a:spcPts val="3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✅ All Supabase calls wrapped in try/catch - errors via Sonner toast</a:t>
            </a:r>
          </a:p>
          <a:p>
            <a:pPr>
              <a:spcAft>
                <a:spcPts val="3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✅ react-error-boundary per-feature boundaries for graceful degradation</a:t>
            </a:r>
          </a:p>
          <a:p>
            <a:pPr>
              <a:spcAft>
                <a:spcPts val="3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✅ Custom 404 page for unmatched routes</a:t>
            </a:r>
          </a:p>
          <a:p>
            <a:pPr>
              <a:spcAft>
                <a:spcPts val="3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✅ Auth errors redirect to /login with explanatory toast</a:t>
            </a:r>
          </a:p>
          <a:p>
            <a:pPr>
              <a:spcAft>
                <a:spcPts val="3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✅ Realtime WebSocket disconnections handled silently with background re-fetch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00D4FF"/>
                </a:solidFill>
                <a:latin typeface="Calibri"/>
              </a:defRPr>
            </a:pPr>
            <a:r>
              <a:t>Key Fix: Tab Restore (BUG-001)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Problem: Supabase GoTrue fires TOKEN_REFRESHED on tab visibility change, causing all hooks to re-fetch and show skeleton loaders.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Solution: hasInitialFetch ref in AuthContext - after first fetch, TOKEN_REFRESHED events are completely ignored. No state changes, no re-renders.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Testing &amp; Quality Assurance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286000" cy="36576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606040" cy="1828800"/>
          </a:xfrm>
          <a:prstGeom prst="roundRect">
            <a:avLst/>
          </a:prstGeom>
          <a:solidFill>
            <a:srgbClr val="15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  <a:defRPr sz="1400" b="1">
                <a:solidFill>
                  <a:srgbClr val="10B981"/>
                </a:solidFill>
                <a:latin typeface="Calibri"/>
              </a:defRPr>
            </a:pPr>
            <a:r>
              <a:t>Unit Tests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Vitest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cn(), dateHelpers, flowScore calc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sortByPriority, env vars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11880" y="1371600"/>
            <a:ext cx="2606040" cy="1828800"/>
          </a:xfrm>
          <a:prstGeom prst="roundRect">
            <a:avLst/>
          </a:prstGeom>
          <a:solidFill>
            <a:srgbClr val="15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  <a:defRPr sz="1400" b="1">
                <a:solidFill>
                  <a:srgbClr val="10B981"/>
                </a:solidFill>
                <a:latin typeface="Calibri"/>
              </a:defRPr>
            </a:pPr>
            <a:r>
              <a:t>Component Tests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React Testing Library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TaskCard, LoginForm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FocusTimerDisplay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371600"/>
            <a:ext cx="2606040" cy="1828800"/>
          </a:xfrm>
          <a:prstGeom prst="roundRect">
            <a:avLst/>
          </a:prstGeom>
          <a:solidFill>
            <a:srgbClr val="15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  <a:defRPr sz="1400" b="1">
                <a:solidFill>
                  <a:srgbClr val="10B981"/>
                </a:solidFill>
                <a:latin typeface="Calibri"/>
              </a:defRPr>
            </a:pPr>
            <a:r>
              <a:t>Integration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Vitest + mock Supabase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Auth flow, task CRUD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Realtime callbacks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72600" y="1371600"/>
            <a:ext cx="2606040" cy="1828800"/>
          </a:xfrm>
          <a:prstGeom prst="roundRect">
            <a:avLst/>
          </a:prstGeom>
          <a:solidFill>
            <a:srgbClr val="15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  <a:defRPr sz="1400" b="1">
                <a:solidFill>
                  <a:srgbClr val="F59E0B"/>
                </a:solidFill>
                <a:latin typeface="Calibri"/>
              </a:defRPr>
            </a:pPr>
            <a:r>
              <a:t>Manual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Browser checklist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12+ feature pages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Pre-deploy regression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Bug Reports (7 documented)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rPr dirty="0"/>
              <a:t>▸  BUG-001 (Critical): Auth tab-restore data loss → Fixed: </a:t>
            </a:r>
            <a:r>
              <a:rPr dirty="0" err="1"/>
              <a:t>hasInitialFetch</a:t>
            </a:r>
            <a:r>
              <a:rPr dirty="0"/>
              <a:t> ref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rPr dirty="0"/>
              <a:t>▸  BUG-002 (High): Kanban duplicate cards on Realtime update → Fixed: </a:t>
            </a:r>
            <a:r>
              <a:rPr dirty="0" err="1"/>
              <a:t>dedup</a:t>
            </a:r>
            <a:r>
              <a:rPr dirty="0"/>
              <a:t> filter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rPr dirty="0"/>
              <a:t>▸  BUG-003 (High): Document content lost on refresh → Fixed: 3s auto-save + </a:t>
            </a:r>
            <a:r>
              <a:rPr dirty="0" err="1"/>
              <a:t>beforeunload</a:t>
            </a:r>
            <a:endParaRPr dirty="0"/>
          </a:p>
          <a:p>
            <a:pPr algn="l">
              <a:spcAft>
                <a:spcPts val="2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rPr dirty="0"/>
              <a:t>▸  BUG-004 (Medium): File upload no progress feedback → Fixed: </a:t>
            </a:r>
            <a:r>
              <a:rPr dirty="0" err="1"/>
              <a:t>uploadProgress</a:t>
            </a:r>
            <a:r>
              <a:rPr dirty="0"/>
              <a:t> state + progress bar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rPr dirty="0"/>
              <a:t>▸  BUG-005 (Medium): Dark mode not applied to Radix portals → Fixed: data-theme on &lt;body&gt;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rPr dirty="0"/>
              <a:t>▸  BUG-006 (Medium): Mobile sidebar overlap → Fixed: Sheet drawer + auto-close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rPr dirty="0"/>
              <a:t>▸  BUG-007 (Low): Timer interval after navigation → Fixed: </a:t>
            </a:r>
            <a:r>
              <a:rPr dirty="0" err="1"/>
              <a:t>useEffect</a:t>
            </a:r>
            <a:r>
              <a:rPr dirty="0"/>
              <a:t> cleanup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CI/CD &amp;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286000" cy="36576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GitHub Actions CI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828800" cy="365760"/>
          </a:xfrm>
          <a:prstGeom prst="roundRect">
            <a:avLst/>
          </a:prstGeom>
          <a:solidFill>
            <a:srgbClr val="15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874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Checkout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8745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actions/checkout@v4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1828800" cy="365760"/>
          </a:xfrm>
          <a:prstGeom prst="roundRect">
            <a:avLst/>
          </a:prstGeom>
          <a:solidFill>
            <a:srgbClr val="15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331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Setup Bun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3317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oven-sh/setup-bun@v1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743200"/>
            <a:ext cx="1828800" cy="365760"/>
          </a:xfrm>
          <a:prstGeom prst="roundRect">
            <a:avLst/>
          </a:prstGeom>
          <a:solidFill>
            <a:srgbClr val="15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27889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Install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7889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bun install --frozen-lockfile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00400"/>
            <a:ext cx="1828800" cy="365760"/>
          </a:xfrm>
          <a:prstGeom prst="roundRect">
            <a:avLst/>
          </a:prstGeom>
          <a:solidFill>
            <a:srgbClr val="15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3246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2461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bun run lint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657600"/>
            <a:ext cx="1828800" cy="365760"/>
          </a:xfrm>
          <a:prstGeom prst="roundRect">
            <a:avLst/>
          </a:prstGeom>
          <a:solidFill>
            <a:srgbClr val="15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37033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Type 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7033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bun run tsc --noEmit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114800"/>
            <a:ext cx="1828800" cy="365760"/>
          </a:xfrm>
          <a:prstGeom prst="roundRect">
            <a:avLst/>
          </a:prstGeom>
          <a:solidFill>
            <a:srgbClr val="15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4160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1605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bun run vitest --run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572000"/>
            <a:ext cx="1828800" cy="365760"/>
          </a:xfrm>
          <a:prstGeom prst="roundRect">
            <a:avLst/>
          </a:prstGeom>
          <a:solidFill>
            <a:srgbClr val="15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4617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Build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46177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bun run build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029200"/>
            <a:ext cx="1828800" cy="365760"/>
          </a:xfrm>
          <a:prstGeom prst="round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50749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Deploy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50749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Vercel (auto on main)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0" y="1371600"/>
            <a:ext cx="4572000" cy="4754880"/>
          </a:xfrm>
          <a:prstGeom prst="roundRect">
            <a:avLst/>
          </a:prstGeom>
          <a:solidFill>
            <a:srgbClr val="15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1000"/>
              </a:spcAft>
              <a:defRPr sz="1800" b="1">
                <a:solidFill>
                  <a:srgbClr val="00D4FF"/>
                </a:solidFill>
                <a:latin typeface="Calibri"/>
              </a:defRPr>
            </a:pPr>
            <a:r>
              <a:t>Deployment Details</a:t>
            </a:r>
          </a:p>
          <a:p>
            <a:pPr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Platform: Vercel (global edge CDN)</a:t>
            </a:r>
          </a:p>
          <a:p>
            <a:pPr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Build: vite build → dist/ static assets</a:t>
            </a:r>
          </a:p>
          <a:p>
            <a:pPr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Routing: vercel.json rewrites all paths → /index.html</a:t>
            </a:r>
          </a:p>
          <a:p>
            <a:pPr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Env vars: VITE_SUPABASE_URL, VITE_SUPABASE_PUBLISHABLE_KEY</a:t>
            </a:r>
          </a:p>
          <a:p>
            <a:pPr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Supabase: PostgreSQL 17 on AWS us-east-1</a:t>
            </a:r>
          </a:p>
          <a:p>
            <a:pPr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Error monitoring: Sentry with user context</a:t>
            </a:r>
          </a:p>
          <a:p>
            <a:pPr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Analytics: Vercel Speed Insights + Analytics</a:t>
            </a:r>
          </a:p>
          <a:p>
            <a:pPr algn="l">
              <a:spcAft>
                <a:spcPts val="600"/>
              </a:spcAft>
              <a:defRPr sz="600" b="0">
                <a:solidFill>
                  <a:srgbClr val="1E293B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200" b="1">
                <a:solidFill>
                  <a:srgbClr val="F59E0B"/>
                </a:solidFill>
                <a:latin typeface="Calibri"/>
              </a:defRPr>
            </a:pPr>
            <a:r>
              <a:t>Rollback: One-click Vercel instant rollback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Key Performance Indicators (Results)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286000" cy="36576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606040" cy="2103120"/>
          </a:xfrm>
          <a:prstGeom prst="roundRect">
            <a:avLst/>
          </a:prstGeom>
          <a:solidFill>
            <a:srgbClr val="15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  <a:defRPr sz="3000" b="1">
                <a:solidFill>
                  <a:srgbClr val="10B981"/>
                </a:solidFill>
                <a:latin typeface="Calibri"/>
              </a:defRPr>
            </a:pPr>
            <a:r>
              <a:t>100%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MVP Features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Shipped</a:t>
            </a:r>
          </a:p>
          <a:p>
            <a:pPr algn="ctr">
              <a:spcAft>
                <a:spcPts val="20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✅ All 8 core features implemented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11880" y="1463040"/>
            <a:ext cx="2606040" cy="2103120"/>
          </a:xfrm>
          <a:prstGeom prst="roundRect">
            <a:avLst/>
          </a:prstGeom>
          <a:solidFill>
            <a:srgbClr val="15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  <a:defRPr sz="3000" b="1">
                <a:solidFill>
                  <a:srgbClr val="10B981"/>
                </a:solidFill>
                <a:latin typeface="Calibri"/>
              </a:defRPr>
            </a:pPr>
            <a:r>
              <a:t>&lt; 2.5s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Page LCP (4G)</a:t>
            </a:r>
          </a:p>
          <a:p>
            <a:pPr algn="ctr">
              <a:spcAft>
                <a:spcPts val="20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✅ Verified by Vercel Speed Insights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463040"/>
            <a:ext cx="2606040" cy="2103120"/>
          </a:xfrm>
          <a:prstGeom prst="roundRect">
            <a:avLst/>
          </a:prstGeom>
          <a:solidFill>
            <a:srgbClr val="15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  <a:defRPr sz="3000" b="1">
                <a:solidFill>
                  <a:srgbClr val="10B981"/>
                </a:solidFill>
                <a:latin typeface="Calibri"/>
              </a:defRPr>
            </a:pPr>
            <a:r>
              <a:t>0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TypeScript Errors</a:t>
            </a:r>
          </a:p>
          <a:p>
            <a:pPr algn="ctr">
              <a:spcAft>
                <a:spcPts val="20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✅ tsc --noEmit passes in CI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72600" y="1463040"/>
            <a:ext cx="2606040" cy="2103120"/>
          </a:xfrm>
          <a:prstGeom prst="roundRect">
            <a:avLst/>
          </a:prstGeom>
          <a:solidFill>
            <a:srgbClr val="15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  <a:defRPr sz="3000" b="1">
                <a:solidFill>
                  <a:srgbClr val="10B981"/>
                </a:solidFill>
                <a:latin typeface="Calibri"/>
              </a:defRPr>
            </a:pPr>
            <a:r>
              <a:t>0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ESLint Violations</a:t>
            </a:r>
          </a:p>
          <a:p>
            <a:pPr algn="ctr">
              <a:spcAft>
                <a:spcPts val="20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✅ Zero errors, zero warnings in CI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2606040" cy="2103120"/>
          </a:xfrm>
          <a:prstGeom prst="roundRect">
            <a:avLst/>
          </a:prstGeom>
          <a:solidFill>
            <a:srgbClr val="15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  <a:defRPr sz="3000" b="1">
                <a:solidFill>
                  <a:srgbClr val="10B981"/>
                </a:solidFill>
                <a:latin typeface="Calibri"/>
              </a:defRPr>
            </a:pPr>
            <a:r>
              <a:t>≥ 70%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Test Coverage</a:t>
            </a:r>
          </a:p>
          <a:p>
            <a:pPr algn="ctr">
              <a:spcAft>
                <a:spcPts val="20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✅ Utilities + hooks + components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3931920"/>
            <a:ext cx="2606040" cy="2103120"/>
          </a:xfrm>
          <a:prstGeom prst="roundRect">
            <a:avLst/>
          </a:prstGeom>
          <a:solidFill>
            <a:srgbClr val="15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  <a:defRPr sz="3000" b="1">
                <a:solidFill>
                  <a:srgbClr val="10B981"/>
                </a:solidFill>
                <a:latin typeface="Calibri"/>
              </a:defRPr>
            </a:pPr>
            <a:r>
              <a:t>&gt; 99%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Auth Success Rate</a:t>
            </a:r>
          </a:p>
          <a:p>
            <a:pPr algn="ctr">
              <a:spcAft>
                <a:spcPts val="20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✅ Supabase Auth dashboard verified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3931920"/>
            <a:ext cx="2606040" cy="2103120"/>
          </a:xfrm>
          <a:prstGeom prst="roundRect">
            <a:avLst/>
          </a:prstGeom>
          <a:solidFill>
            <a:srgbClr val="15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  <a:defRPr sz="3000" b="1">
                <a:solidFill>
                  <a:srgbClr val="10B981"/>
                </a:solidFill>
                <a:latin typeface="Calibri"/>
              </a:defRPr>
            </a:pPr>
            <a:r>
              <a:t>&lt; 500ms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Realtime Latency</a:t>
            </a:r>
          </a:p>
          <a:p>
            <a:pPr algn="ctr">
              <a:spcAft>
                <a:spcPts val="20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✅ Broadcast &lt; 200ms measured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72600" y="3931920"/>
            <a:ext cx="2606040" cy="2103120"/>
          </a:xfrm>
          <a:prstGeom prst="roundRect">
            <a:avLst/>
          </a:prstGeom>
          <a:solidFill>
            <a:srgbClr val="15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  <a:defRPr sz="3000" b="1">
                <a:solidFill>
                  <a:srgbClr val="10B981"/>
                </a:solidFill>
                <a:latin typeface="Calibri"/>
              </a:defRPr>
            </a:pPr>
            <a:r>
              <a:t>5/5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Sprint Sign-offs</a:t>
            </a:r>
          </a:p>
          <a:p>
            <a:pPr algn="ctr">
              <a:spcAft>
                <a:spcPts val="20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✅ All phases approved on schedule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Live Demonstration Script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286000" cy="36576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Recommended flow for presenting to the instructor (8-10 minutes)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1645920" cy="457200"/>
          </a:xfrm>
          <a:prstGeom prst="round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1. Sign Up / Login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19659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D4FF"/>
                </a:solidFill>
                <a:latin typeface="Calibri"/>
              </a:defRPr>
            </a:pPr>
            <a:r>
              <a:t>30s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965960"/>
            <a:ext cx="8229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rPr dirty="0"/>
              <a:t> Auth login → redirect to Dashboard. Show how fast onboarding 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14600"/>
            <a:ext cx="1645920" cy="457200"/>
          </a:xfrm>
          <a:prstGeom prst="round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5603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2. Dashboard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25603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D4FF"/>
                </a:solidFill>
                <a:latin typeface="Calibri"/>
              </a:defRPr>
            </a:pPr>
            <a:r>
              <a:t>45s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560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Stats cards: tasks completed, deep work time, flow score. Activity feed scrolling. Weekly trend chart.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108960"/>
            <a:ext cx="1645920" cy="457200"/>
          </a:xfrm>
          <a:prstGeom prst="round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31546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3. Task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31546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D4FF"/>
                </a:solidFill>
                <a:latin typeface="Calibri"/>
              </a:defRPr>
            </a:pPr>
            <a:r>
              <a:t>90s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154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Create task with priority=High + due date. Switch List → Kanban → Calendar. Filter by priority. Show subtasks.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703320"/>
            <a:ext cx="1645920" cy="457200"/>
          </a:xfrm>
          <a:prstGeom prst="round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37490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4. Focus Timer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37490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D4FF"/>
                </a:solidFill>
                <a:latin typeface="Calibri"/>
              </a:defRPr>
            </a:pPr>
            <a:r>
              <a:t>60s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7490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Start Pomodoro session. Log distraction ('checked email'). End session. Show flow score summary.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297680"/>
            <a:ext cx="1645920" cy="457200"/>
          </a:xfrm>
          <a:prstGeom prst="round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43434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5. Collaborative Docs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43434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D4FF"/>
                </a:solidFill>
                <a:latin typeface="Calibri"/>
              </a:defRPr>
            </a:pPr>
            <a:r>
              <a:t>90s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4343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Open document in two browser tabs. Type in one, show real-time sync in the other. Show cursor presence.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892040"/>
            <a:ext cx="1645920" cy="457200"/>
          </a:xfrm>
          <a:prstGeom prst="round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49377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6. Chat &amp; DMs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14600" y="49377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D4FF"/>
                </a:solidFill>
                <a:latin typeface="Calibri"/>
              </a:defRPr>
            </a:pPr>
            <a:r>
              <a:t>45s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4937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Send workspace message with file attachment. @mention teammate. Open DM thread.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486400"/>
            <a:ext cx="1645920" cy="457200"/>
          </a:xfrm>
          <a:prstGeom prst="round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7240" y="55321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7. Command Palette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14600" y="55321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D4FF"/>
                </a:solidFill>
                <a:latin typeface="Calibri"/>
              </a:defRPr>
            </a:pPr>
            <a:r>
              <a:t>30s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5532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Press Cmd+K → search for a task/goal. Press ? to show keyboard shortcuts.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6080760"/>
            <a:ext cx="1645920" cy="457200"/>
          </a:xfrm>
          <a:prstGeom prst="round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77240" y="61264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8. Settings &amp; Polish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14600" y="61264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D4FF"/>
                </a:solidFill>
                <a:latin typeface="Calibri"/>
              </a:defRPr>
            </a:pPr>
            <a:r>
              <a:t>30s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6126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Toggle dark/light mode. Show notification preferences. Show workspace management.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Lessons Learned &amp; Challenges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286000" cy="36576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515600" cy="868680"/>
          </a:xfrm>
          <a:prstGeom prst="roundRect">
            <a:avLst/>
          </a:prstGeom>
          <a:solidFill>
            <a:srgbClr val="15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400"/>
              </a:spcAft>
              <a:defRPr sz="1400" b="1">
                <a:solidFill>
                  <a:srgbClr val="00D4FF"/>
                </a:solidFill>
                <a:latin typeface="Calibri"/>
              </a:defRPr>
            </a:pPr>
            <a:r>
              <a:t>⚡  Realtime State Management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Managing Yjs CRDT state + TipTap editor + Supabase Realtime broadcast required careful lifecycle handling. Auto-save + beforeunload events were critical.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10515600" cy="868680"/>
          </a:xfrm>
          <a:prstGeom prst="roundRect">
            <a:avLst/>
          </a:prstGeom>
          <a:solidFill>
            <a:srgbClr val="15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400"/>
              </a:spcAft>
              <a:defRPr sz="1400" b="1">
                <a:solidFill>
                  <a:srgbClr val="00D4FF"/>
                </a:solidFill>
                <a:latin typeface="Calibri"/>
              </a:defRPr>
            </a:pPr>
            <a:r>
              <a:t>⚡  Tab Restore Data Loss (BUG-001)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Supabase GoTrue fires TOKEN_REFRESHED on tab visibility change, causing all hooks to re-fetch and show skeleton loaders. Fixed with hasInitialFetch ref.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83280"/>
            <a:ext cx="10515600" cy="868680"/>
          </a:xfrm>
          <a:prstGeom prst="roundRect">
            <a:avLst/>
          </a:prstGeom>
          <a:solidFill>
            <a:srgbClr val="15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400"/>
              </a:spcAft>
              <a:defRPr sz="1400" b="1">
                <a:solidFill>
                  <a:srgbClr val="00D4FF"/>
                </a:solidFill>
                <a:latin typeface="Calibri"/>
              </a:defRPr>
            </a:pPr>
            <a:r>
              <a:t>⚡  Multi-Tenant RLS Design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Every query must be scoped by workspace_id. RLS policies on 20+ tables had to be carefully designed and audited to prevent cross-tenant data leaks.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89120"/>
            <a:ext cx="10515600" cy="868680"/>
          </a:xfrm>
          <a:prstGeom prst="roundRect">
            <a:avLst/>
          </a:prstGeom>
          <a:solidFill>
            <a:srgbClr val="15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400"/>
              </a:spcAft>
              <a:defRPr sz="1400" b="1">
                <a:solidFill>
                  <a:srgbClr val="00D4FF"/>
                </a:solidFill>
                <a:latin typeface="Calibri"/>
              </a:defRPr>
            </a:pPr>
            <a:r>
              <a:t>⚡  Dark Mode Portals (BUG-005)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Radix UI portals render outside the root div. CSS variables from Tailwind theme weren't inherited. Fixed by moving data-theme to &lt;body&gt;.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94960"/>
            <a:ext cx="10515600" cy="868680"/>
          </a:xfrm>
          <a:prstGeom prst="roundRect">
            <a:avLst/>
          </a:prstGeom>
          <a:solidFill>
            <a:srgbClr val="15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400"/>
              </a:spcAft>
              <a:defRPr sz="1400" b="1">
                <a:solidFill>
                  <a:srgbClr val="00D4FF"/>
                </a:solidFill>
                <a:latin typeface="Calibri"/>
              </a:defRPr>
            </a:pPr>
            <a:r>
              <a:t>⚡  Real-time Performance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postgres_changes event duplication caused Kanban duplicates (BUG-002). Fixed with client-side dedup filter. Composite indexes added for query performance.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Future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286000" cy="36576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303520" cy="2377440"/>
          </a:xfrm>
          <a:prstGeom prst="roundRect">
            <a:avLst/>
          </a:prstGeom>
          <a:solidFill>
            <a:srgbClr val="15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1000"/>
              </a:spcAft>
              <a:defRPr sz="1800" b="1">
                <a:solidFill>
                  <a:srgbClr val="00D4FF"/>
                </a:solidFill>
                <a:latin typeface="Calibri"/>
              </a:defRPr>
            </a:pPr>
            <a:r>
              <a:rPr dirty="0"/>
              <a:t>Short-Term (Next Sprint)</a:t>
            </a:r>
          </a:p>
          <a:p>
            <a:pPr>
              <a:spcAft>
                <a:spcPts val="4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rPr dirty="0"/>
              <a:t>▸  E2E tests with Playwright for full user journeys</a:t>
            </a:r>
          </a:p>
          <a:p>
            <a:pPr>
              <a:spcAft>
                <a:spcPts val="4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rPr dirty="0"/>
              <a:t>▸  Kanban drag-and-drop reordering (@dnd-kit/core)</a:t>
            </a:r>
          </a:p>
          <a:p>
            <a:pPr>
              <a:spcAft>
                <a:spcPts val="4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rPr dirty="0"/>
              <a:t>▸  Recurring tasks with RRULE auto-generation</a:t>
            </a:r>
          </a:p>
          <a:p>
            <a:pPr>
              <a:spcAft>
                <a:spcPts val="4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rPr dirty="0"/>
              <a:t>▸  Calendar view with react-day-picker task creation</a:t>
            </a:r>
          </a:p>
          <a:p>
            <a:pPr>
              <a:spcAft>
                <a:spcPts val="4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rPr dirty="0"/>
              <a:t>▸  Full WCAG 2.1 AA accessibility audit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463040"/>
            <a:ext cx="5029200" cy="2377440"/>
          </a:xfrm>
          <a:prstGeom prst="roundRect">
            <a:avLst/>
          </a:prstGeom>
          <a:solidFill>
            <a:srgbClr val="15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1000"/>
              </a:spcAft>
              <a:defRPr sz="1800" b="1">
                <a:solidFill>
                  <a:srgbClr val="F59E0B"/>
                </a:solidFill>
                <a:latin typeface="Calibri"/>
              </a:defRPr>
            </a:pPr>
            <a:r>
              <a:rPr dirty="0"/>
              <a:t>Long-Term</a:t>
            </a:r>
          </a:p>
          <a:p>
            <a:pPr>
              <a:spcAft>
                <a:spcPts val="4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rPr dirty="0"/>
              <a:t>▸  Focus session analytics deep-dive (streaks, trends)</a:t>
            </a:r>
          </a:p>
          <a:p>
            <a:pPr>
              <a:spcAft>
                <a:spcPts val="4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rPr dirty="0"/>
              <a:t>▸  Email notifications via </a:t>
            </a:r>
            <a:r>
              <a:rPr dirty="0" err="1"/>
              <a:t>Supabase</a:t>
            </a:r>
            <a:r>
              <a:rPr dirty="0"/>
              <a:t> Edge Functions</a:t>
            </a:r>
          </a:p>
          <a:p>
            <a:pPr>
              <a:spcAft>
                <a:spcPts val="4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rPr dirty="0"/>
              <a:t>▸  Virtual scrolling for 100+ item lists (@tanstack/react-virtual)</a:t>
            </a:r>
          </a:p>
          <a:p>
            <a:pPr>
              <a:spcAft>
                <a:spcPts val="4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rPr dirty="0"/>
              <a:t>▸  Native mobile applications (React Native)</a:t>
            </a:r>
          </a:p>
          <a:p>
            <a:pPr>
              <a:spcAft>
                <a:spcPts val="4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rPr dirty="0"/>
              <a:t>▸  Paid subscription tier with Stripe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Improvement Backlog (Tracked in IMPROVEMENTS_AND_FEATURES.md)</a:t>
            </a:r>
          </a:p>
          <a:p>
            <a:pPr>
              <a:spcAft>
                <a:spcPts val="300"/>
              </a:spcAft>
              <a:defRPr sz="1200" b="0">
                <a:solidFill>
                  <a:srgbClr val="10B981"/>
                </a:solidFill>
                <a:latin typeface="Calibri"/>
              </a:defRPr>
            </a:pPr>
            <a:r>
              <a:t>✅  Data archival / retention policy for old sessions (implemented: 20260713_data_archival_policy.sql)</a:t>
            </a:r>
          </a:p>
          <a:p>
            <a:pPr>
              <a:spcAft>
                <a:spcPts val="300"/>
              </a:spcAft>
              <a:defRPr sz="1200" b="0">
                <a:solidFill>
                  <a:srgbClr val="10B981"/>
                </a:solidFill>
                <a:latin typeface="Calibri"/>
              </a:defRPr>
            </a:pPr>
            <a:r>
              <a:t>✅  Composite database indexes for query patterns (implemented: 20260713_add_composite_indexes.sql)</a:t>
            </a:r>
          </a:p>
          <a:p>
            <a:pPr>
              <a:spcAft>
                <a:spcPts val="300"/>
              </a:spcAft>
              <a:defRPr sz="1200" b="0">
                <a:solidFill>
                  <a:srgbClr val="10B981"/>
                </a:solidFill>
                <a:latin typeface="Calibri"/>
              </a:defRPr>
            </a:pPr>
            <a:r>
              <a:t>✅  Rate limiting on RPC endpoints (implemented: 20260713_rate_limit_rpcs.sql)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5B5BD6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017520"/>
            <a:ext cx="3047695" cy="36576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Calibri"/>
              </a:defRPr>
            </a:pPr>
            <a:r>
              <a:t>Focus Team  |  DEPI Internship Programme  |  July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D4FF"/>
                </a:solidFill>
                <a:latin typeface="Calibri"/>
              </a:defRPr>
            </a:pPr>
            <a:r>
              <a:t>GitHub: https://github.com/Ahmed5Emad/Focus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748B"/>
                </a:solidFill>
                <a:latin typeface="Calibri"/>
              </a:defRPr>
            </a:pPr>
            <a:r>
              <a:t>"One workspace. Every tool you need. Real-time by default."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2569</Words>
  <Application>Microsoft Office PowerPoint</Application>
  <PresentationFormat>Widescreen</PresentationFormat>
  <Paragraphs>367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على ابراهيم محمد محمد حسن</cp:lastModifiedBy>
  <cp:revision>4</cp:revision>
  <dcterms:created xsi:type="dcterms:W3CDTF">2013-01-27T09:14:16Z</dcterms:created>
  <dcterms:modified xsi:type="dcterms:W3CDTF">2026-07-13T20:26:07Z</dcterms:modified>
  <cp:category/>
</cp:coreProperties>
</file>